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6301"/>
  </p:normalViewPr>
  <p:slideViewPr>
    <p:cSldViewPr snapToGrid="0" snapToObjects="1">
      <p:cViewPr varScale="1">
        <p:scale>
          <a:sx n="122" d="100"/>
          <a:sy n="122" d="100"/>
        </p:scale>
        <p:origin x="2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B8504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A3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Version inicial</c:v>
                </c:pt>
                <c:pt idx="1">
                  <c:v>CV robusto + bagging</c:v>
                </c:pt>
                <c:pt idx="2">
                  <c:v>One-hot + SVR</c:v>
                </c:pt>
                <c:pt idx="3">
                  <c:v>Ensamble final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26711</c:v>
                </c:pt>
                <c:pt idx="1">
                  <c:v>26485</c:v>
                </c:pt>
                <c:pt idx="2">
                  <c:v>23173</c:v>
                </c:pt>
                <c:pt idx="3">
                  <c:v>23126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2B-EA4C-94FD-3895171372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20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7109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2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83868" y="6355080"/>
            <a:ext cx="822960" cy="502920"/>
          </a:xfrm>
          <a:prstGeom prst="rect">
            <a:avLst/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" name="Shape 1"/>
          <p:cNvSpPr/>
          <p:nvPr/>
        </p:nvSpPr>
        <p:spPr>
          <a:xfrm>
            <a:off x="2506828" y="6080760"/>
            <a:ext cx="640080" cy="777240"/>
          </a:xfrm>
          <a:prstGeom prst="rect">
            <a:avLst/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Shape 2"/>
          <p:cNvSpPr/>
          <p:nvPr/>
        </p:nvSpPr>
        <p:spPr>
          <a:xfrm>
            <a:off x="3146908" y="6263640"/>
            <a:ext cx="960120" cy="594360"/>
          </a:xfrm>
          <a:prstGeom prst="rect">
            <a:avLst/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5" name="Shape 3"/>
          <p:cNvSpPr/>
          <p:nvPr/>
        </p:nvSpPr>
        <p:spPr>
          <a:xfrm>
            <a:off x="4107028" y="5943600"/>
            <a:ext cx="731520" cy="914400"/>
          </a:xfrm>
          <a:prstGeom prst="rect">
            <a:avLst/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Shape 4"/>
          <p:cNvSpPr/>
          <p:nvPr/>
        </p:nvSpPr>
        <p:spPr>
          <a:xfrm>
            <a:off x="4838548" y="6217920"/>
            <a:ext cx="868680" cy="640080"/>
          </a:xfrm>
          <a:prstGeom prst="rect">
            <a:avLst/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7" name="Shape 5"/>
          <p:cNvSpPr/>
          <p:nvPr/>
        </p:nvSpPr>
        <p:spPr>
          <a:xfrm>
            <a:off x="5707228" y="6035040"/>
            <a:ext cx="640080" cy="822960"/>
          </a:xfrm>
          <a:prstGeom prst="rect">
            <a:avLst/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8" name="Shape 6"/>
          <p:cNvSpPr/>
          <p:nvPr/>
        </p:nvSpPr>
        <p:spPr>
          <a:xfrm>
            <a:off x="6347308" y="6309360"/>
            <a:ext cx="1005840" cy="548640"/>
          </a:xfrm>
          <a:prstGeom prst="rect">
            <a:avLst/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Shape 7"/>
          <p:cNvSpPr/>
          <p:nvPr/>
        </p:nvSpPr>
        <p:spPr>
          <a:xfrm>
            <a:off x="7353148" y="5989320"/>
            <a:ext cx="731520" cy="868680"/>
          </a:xfrm>
          <a:prstGeom prst="rect">
            <a:avLst/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Shape 8"/>
          <p:cNvSpPr/>
          <p:nvPr/>
        </p:nvSpPr>
        <p:spPr>
          <a:xfrm>
            <a:off x="8084668" y="6217920"/>
            <a:ext cx="822960" cy="640080"/>
          </a:xfrm>
          <a:prstGeom prst="rect">
            <a:avLst/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1" name="Shape 9"/>
          <p:cNvSpPr/>
          <p:nvPr/>
        </p:nvSpPr>
        <p:spPr>
          <a:xfrm>
            <a:off x="8907628" y="6080760"/>
            <a:ext cx="685800" cy="777240"/>
          </a:xfrm>
          <a:prstGeom prst="rect">
            <a:avLst/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2" name="Shape 10"/>
          <p:cNvSpPr/>
          <p:nvPr/>
        </p:nvSpPr>
        <p:spPr>
          <a:xfrm>
            <a:off x="9593428" y="6355080"/>
            <a:ext cx="914400" cy="502920"/>
          </a:xfrm>
          <a:prstGeom prst="rect">
            <a:avLst/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3" name="Shape 11"/>
          <p:cNvSpPr/>
          <p:nvPr/>
        </p:nvSpPr>
        <p:spPr>
          <a:xfrm>
            <a:off x="5394960" y="685800"/>
            <a:ext cx="1005840" cy="10058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5719" y="816559"/>
            <a:ext cx="744322" cy="74432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731520" y="1965959"/>
            <a:ext cx="10698480" cy="20384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sz="6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Precios de Vivienda</a:t>
            </a:r>
            <a:endParaRPr lang="es-ES_tradnl" sz="6000" noProof="0" dirty="0"/>
          </a:p>
        </p:txBody>
      </p:sp>
      <p:sp>
        <p:nvSpPr>
          <p:cNvPr id="17" name="Shape 14"/>
          <p:cNvSpPr/>
          <p:nvPr/>
        </p:nvSpPr>
        <p:spPr>
          <a:xfrm>
            <a:off x="4251960" y="434340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B85042"/>
          </a:solidFill>
          <a:ln/>
        </p:spPr>
        <p:txBody>
          <a:bodyPr/>
          <a:lstStyle/>
          <a:p>
            <a:endParaRPr lang="es-ES_tradnl" sz="2000" noProof="0" dirty="0"/>
          </a:p>
        </p:txBody>
      </p:sp>
      <p:sp>
        <p:nvSpPr>
          <p:cNvPr id="18" name="Text 15"/>
          <p:cNvSpPr/>
          <p:nvPr/>
        </p:nvSpPr>
        <p:spPr>
          <a:xfrm>
            <a:off x="4251960" y="4343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6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Gabriel Mejía Ruiz</a:t>
            </a:r>
          </a:p>
          <a:p>
            <a:pPr marL="0" indent="0" algn="ctr">
              <a:buNone/>
            </a:pPr>
            <a:r>
              <a:rPr lang="es-ES_tradnl" sz="1600" b="1" noProof="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David Alejandro Romero Muñoz</a:t>
            </a:r>
            <a:endParaRPr lang="es-ES_tradnl" sz="1600" noProof="0" dirty="0"/>
          </a:p>
        </p:txBody>
      </p:sp>
      <p:sp>
        <p:nvSpPr>
          <p:cNvPr id="19" name="Text 16"/>
          <p:cNvSpPr/>
          <p:nvPr/>
        </p:nvSpPr>
        <p:spPr>
          <a:xfrm>
            <a:off x="1188720" y="521208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_tradnl" noProof="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Final </a:t>
            </a:r>
            <a:endParaRPr lang="es-ES_tradnl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C2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4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datos: Ames </a:t>
            </a:r>
            <a:r>
              <a:rPr lang="es-ES_tradnl" sz="40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</a:t>
            </a:r>
            <a:endParaRPr lang="es-ES_tradnl" sz="4000" noProof="0" dirty="0"/>
          </a:p>
        </p:txBody>
      </p:sp>
      <p:sp>
        <p:nvSpPr>
          <p:cNvPr id="3" name="Shape 1"/>
          <p:cNvSpPr/>
          <p:nvPr/>
        </p:nvSpPr>
        <p:spPr>
          <a:xfrm>
            <a:off x="10881360" y="320040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8345" y="427025"/>
            <a:ext cx="608990" cy="6089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7" name="Text 4"/>
          <p:cNvSpPr/>
          <p:nvPr/>
        </p:nvSpPr>
        <p:spPr>
          <a:xfrm>
            <a:off x="54864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4800" b="1" noProof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880</a:t>
            </a:r>
            <a:endParaRPr lang="es-ES_tradnl" sz="4800" noProof="0" dirty="0"/>
          </a:p>
        </p:txBody>
      </p:sp>
      <p:sp>
        <p:nvSpPr>
          <p:cNvPr id="8" name="Text 5"/>
          <p:cNvSpPr/>
          <p:nvPr/>
        </p:nvSpPr>
        <p:spPr>
          <a:xfrm>
            <a:off x="548640" y="25603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de</a:t>
            </a:r>
            <a:endParaRPr lang="es-ES_tradnl" sz="1600" noProof="0" dirty="0"/>
          </a:p>
          <a:p>
            <a:pPr marL="0" indent="0" algn="ctr">
              <a:buNone/>
            </a:pP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</a:t>
            </a:r>
            <a:endParaRPr lang="es-ES_tradnl" sz="1600" noProof="0" dirty="0"/>
          </a:p>
        </p:txBody>
      </p:sp>
      <p:sp>
        <p:nvSpPr>
          <p:cNvPr id="9" name="Shape 6"/>
          <p:cNvSpPr/>
          <p:nvPr/>
        </p:nvSpPr>
        <p:spPr>
          <a:xfrm>
            <a:off x="3383280" y="16002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0" name="Text 7"/>
          <p:cNvSpPr/>
          <p:nvPr/>
        </p:nvSpPr>
        <p:spPr>
          <a:xfrm>
            <a:off x="338328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4800" b="1" noProof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220</a:t>
            </a:r>
            <a:endParaRPr lang="es-ES_tradnl" sz="4800" noProof="0" dirty="0"/>
          </a:p>
        </p:txBody>
      </p:sp>
      <p:sp>
        <p:nvSpPr>
          <p:cNvPr id="11" name="Text 8"/>
          <p:cNvSpPr/>
          <p:nvPr/>
        </p:nvSpPr>
        <p:spPr>
          <a:xfrm>
            <a:off x="3383280" y="25603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filas de</a:t>
            </a:r>
            <a:endParaRPr lang="es-ES_tradnl" sz="1600" noProof="0" dirty="0"/>
          </a:p>
          <a:p>
            <a:pPr marL="0" indent="0" algn="ctr">
              <a:buNone/>
            </a:pP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(test)</a:t>
            </a:r>
            <a:endParaRPr lang="es-ES_tradnl" sz="1600" noProof="0" dirty="0"/>
          </a:p>
        </p:txBody>
      </p:sp>
      <p:sp>
        <p:nvSpPr>
          <p:cNvPr id="12" name="Shape 9"/>
          <p:cNvSpPr/>
          <p:nvPr/>
        </p:nvSpPr>
        <p:spPr>
          <a:xfrm>
            <a:off x="6217920" y="16002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3" name="Text 10"/>
          <p:cNvSpPr/>
          <p:nvPr/>
        </p:nvSpPr>
        <p:spPr>
          <a:xfrm>
            <a:off x="621792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4800" b="1" noProof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</a:t>
            </a:r>
            <a:endParaRPr lang="es-ES_tradnl" sz="4800" noProof="0" dirty="0"/>
          </a:p>
        </p:txBody>
      </p:sp>
      <p:sp>
        <p:nvSpPr>
          <p:cNvPr id="14" name="Text 11"/>
          <p:cNvSpPr/>
          <p:nvPr/>
        </p:nvSpPr>
        <p:spPr>
          <a:xfrm>
            <a:off x="6217920" y="25603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s-ES_tradnl" sz="1600" noProof="0" dirty="0"/>
          </a:p>
          <a:p>
            <a:pPr marL="0" indent="0" algn="ctr">
              <a:buNone/>
            </a:pP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predictoras</a:t>
            </a:r>
            <a:endParaRPr lang="es-ES_tradnl" sz="1600" noProof="0" dirty="0"/>
          </a:p>
        </p:txBody>
      </p:sp>
      <p:sp>
        <p:nvSpPr>
          <p:cNvPr id="15" name="Shape 12"/>
          <p:cNvSpPr/>
          <p:nvPr/>
        </p:nvSpPr>
        <p:spPr>
          <a:xfrm>
            <a:off x="9052560" y="160020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6" name="Text 13"/>
          <p:cNvSpPr/>
          <p:nvPr/>
        </p:nvSpPr>
        <p:spPr>
          <a:xfrm>
            <a:off x="9052560" y="178308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4800" b="1" noProof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ES_tradnl" sz="4800" noProof="0" dirty="0"/>
          </a:p>
        </p:txBody>
      </p:sp>
      <p:sp>
        <p:nvSpPr>
          <p:cNvPr id="17" name="Text 14"/>
          <p:cNvSpPr/>
          <p:nvPr/>
        </p:nvSpPr>
        <p:spPr>
          <a:xfrm>
            <a:off x="9052560" y="25603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objetivo:</a:t>
            </a:r>
            <a:endParaRPr lang="es-ES_tradnl" sz="1600" noProof="0" dirty="0"/>
          </a:p>
          <a:p>
            <a:pPr marL="0" indent="0" algn="ctr">
              <a:buNone/>
            </a:pPr>
            <a:r>
              <a:rPr lang="es-ES_tradnl" sz="1600" noProof="0" dirty="0" err="1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SalePrice</a:t>
            </a:r>
            <a:endParaRPr lang="es-ES_tradnl" sz="1600" noProof="0" dirty="0"/>
          </a:p>
        </p:txBody>
      </p:sp>
      <p:sp>
        <p:nvSpPr>
          <p:cNvPr id="18" name="Shape 15"/>
          <p:cNvSpPr/>
          <p:nvPr/>
        </p:nvSpPr>
        <p:spPr>
          <a:xfrm>
            <a:off x="548640" y="3657600"/>
            <a:ext cx="11064240" cy="2468880"/>
          </a:xfrm>
          <a:prstGeom prst="roundRect">
            <a:avLst>
              <a:gd name="adj" fmla="val 4444"/>
            </a:avLst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9" name="Text 16"/>
          <p:cNvSpPr/>
          <p:nvPr/>
        </p:nvSpPr>
        <p:spPr>
          <a:xfrm>
            <a:off x="914400" y="3886200"/>
            <a:ext cx="10332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reto de un </a:t>
            </a:r>
            <a:r>
              <a:rPr lang="es-ES_tradnl" sz="24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pequeño</a:t>
            </a:r>
            <a:endParaRPr lang="es-ES_tradnl" sz="2400" noProof="0" dirty="0"/>
          </a:p>
        </p:txBody>
      </p:sp>
      <p:sp>
        <p:nvSpPr>
          <p:cNvPr id="20" name="Text 17"/>
          <p:cNvSpPr/>
          <p:nvPr/>
        </p:nvSpPr>
        <p:spPr>
          <a:xfrm>
            <a:off x="1051560" y="4457700"/>
            <a:ext cx="1033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solo 880 filas de entrenamiento, la validación cruzada tiene mucha variabilidad: medimos que un mismo modelo puede dar entre 18,000 y 30,000 de error según que filas caen en cada partición.</a:t>
            </a:r>
            <a:endParaRPr lang="es-ES_tradnl" sz="1600" noProof="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obligo a usar validación cruzada repetida (múltiples particiones) para tomar decisiones confiables sobre el modelo, en lugar de confiar en una sola corrida.</a:t>
            </a:r>
            <a:endParaRPr lang="es-ES_tradnl" sz="16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3600" b="1" noProof="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clave del </a:t>
            </a:r>
            <a:r>
              <a:rPr lang="es-ES_tradnl" sz="3600" b="1" noProof="0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s-ES_tradnl" sz="3600" noProof="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24328" cy="44805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Shape 2"/>
          <p:cNvSpPr/>
          <p:nvPr/>
        </p:nvSpPr>
        <p:spPr>
          <a:xfrm>
            <a:off x="1472184" y="1737360"/>
            <a:ext cx="777240" cy="7772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225" y="183840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74320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2400" b="1" noProof="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y distribución</a:t>
            </a:r>
            <a:endParaRPr lang="es-ES_tradnl" sz="2400" noProof="0" dirty="0"/>
          </a:p>
        </p:txBody>
      </p:sp>
      <p:sp>
        <p:nvSpPr>
          <p:cNvPr id="7" name="Text 4"/>
          <p:cNvSpPr/>
          <p:nvPr/>
        </p:nvSpPr>
        <p:spPr>
          <a:xfrm>
            <a:off x="777240" y="3636580"/>
            <a:ext cx="2167128" cy="1658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habitable, área del sótano, numero de habitaciones y baños, área total del lote.</a:t>
            </a:r>
            <a:endParaRPr lang="es-ES_tradnl" noProof="0" dirty="0"/>
          </a:p>
        </p:txBody>
      </p:sp>
      <p:sp>
        <p:nvSpPr>
          <p:cNvPr id="8" name="Shape 5"/>
          <p:cNvSpPr/>
          <p:nvPr/>
        </p:nvSpPr>
        <p:spPr>
          <a:xfrm>
            <a:off x="3374136" y="1417320"/>
            <a:ext cx="2624328" cy="44805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Shape 6"/>
          <p:cNvSpPr/>
          <p:nvPr/>
        </p:nvSpPr>
        <p:spPr>
          <a:xfrm>
            <a:off x="4297680" y="1737360"/>
            <a:ext cx="777240" cy="7772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8721" y="1838401"/>
            <a:ext cx="575158" cy="57515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57016" y="274320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2400" b="1" noProof="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 y condición</a:t>
            </a:r>
            <a:endParaRPr lang="es-ES_tradnl" sz="2400" noProof="0" dirty="0"/>
          </a:p>
        </p:txBody>
      </p:sp>
      <p:sp>
        <p:nvSpPr>
          <p:cNvPr id="12" name="Text 8"/>
          <p:cNvSpPr/>
          <p:nvPr/>
        </p:nvSpPr>
        <p:spPr>
          <a:xfrm>
            <a:off x="3602736" y="3657600"/>
            <a:ext cx="2167128" cy="16585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Calificación general de la casa, calidad de cocina, del exterior, del sótano y del garaje.</a:t>
            </a:r>
            <a:endParaRPr lang="es-ES_tradnl" noProof="0" dirty="0"/>
          </a:p>
        </p:txBody>
      </p:sp>
      <p:sp>
        <p:nvSpPr>
          <p:cNvPr id="13" name="Shape 9"/>
          <p:cNvSpPr/>
          <p:nvPr/>
        </p:nvSpPr>
        <p:spPr>
          <a:xfrm>
            <a:off x="6199632" y="1417320"/>
            <a:ext cx="2624328" cy="44805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Shape 10"/>
          <p:cNvSpPr/>
          <p:nvPr/>
        </p:nvSpPr>
        <p:spPr>
          <a:xfrm>
            <a:off x="7123176" y="1737360"/>
            <a:ext cx="777240" cy="7772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4217" y="1838401"/>
            <a:ext cx="575158" cy="57515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82512" y="274320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2400" b="1" noProof="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</a:t>
            </a:r>
            <a:endParaRPr lang="es-ES_tradnl" sz="2400" noProof="0" dirty="0"/>
          </a:p>
        </p:txBody>
      </p:sp>
      <p:sp>
        <p:nvSpPr>
          <p:cNvPr id="17" name="Text 12"/>
          <p:cNvSpPr/>
          <p:nvPr/>
        </p:nvSpPr>
        <p:spPr>
          <a:xfrm>
            <a:off x="6382512" y="3823210"/>
            <a:ext cx="2167128" cy="1416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Vecindario, zonificación, tipo de calle y configuración del lote.</a:t>
            </a:r>
            <a:endParaRPr lang="es-ES_tradnl" noProof="0" dirty="0"/>
          </a:p>
        </p:txBody>
      </p:sp>
      <p:sp>
        <p:nvSpPr>
          <p:cNvPr id="18" name="Shape 13"/>
          <p:cNvSpPr/>
          <p:nvPr/>
        </p:nvSpPr>
        <p:spPr>
          <a:xfrm>
            <a:off x="9025128" y="1417320"/>
            <a:ext cx="2624328" cy="4480560"/>
          </a:xfrm>
          <a:prstGeom prst="roundRect">
            <a:avLst>
              <a:gd name="adj" fmla="val 4181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_tradnl" noProof="0" dirty="0"/>
          </a:p>
        </p:txBody>
      </p:sp>
      <p:sp>
        <p:nvSpPr>
          <p:cNvPr id="19" name="Shape 14"/>
          <p:cNvSpPr/>
          <p:nvPr/>
        </p:nvSpPr>
        <p:spPr>
          <a:xfrm>
            <a:off x="9948672" y="1737360"/>
            <a:ext cx="777240" cy="77724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9713" y="1838401"/>
            <a:ext cx="575158" cy="57515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08008" y="274320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2400" b="1" noProof="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</a:t>
            </a:r>
            <a:endParaRPr lang="es-ES_tradnl" sz="2400" noProof="0" dirty="0"/>
          </a:p>
        </p:txBody>
      </p:sp>
      <p:sp>
        <p:nvSpPr>
          <p:cNvPr id="22" name="Text 16"/>
          <p:cNvSpPr/>
          <p:nvPr/>
        </p:nvSpPr>
        <p:spPr>
          <a:xfrm>
            <a:off x="9247632" y="3840480"/>
            <a:ext cx="2167128" cy="14167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 de construcción, año de remodelación, año de venta - la edad de la casa.</a:t>
            </a:r>
            <a:endParaRPr lang="es-ES_tradnl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C2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3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el pipeline de trabajo</a:t>
            </a:r>
            <a:endParaRPr lang="es-ES_tradnl" sz="3000" noProof="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011680" cy="3931920"/>
          </a:xfrm>
          <a:prstGeom prst="roundRect">
            <a:avLst>
              <a:gd name="adj" fmla="val 5455"/>
            </a:avLst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Shape 2"/>
          <p:cNvSpPr/>
          <p:nvPr/>
        </p:nvSpPr>
        <p:spPr>
          <a:xfrm>
            <a:off x="1234440" y="182880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650" y="1912010"/>
            <a:ext cx="473659" cy="4736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105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s-ES_tradnl" sz="2000" noProof="0" dirty="0"/>
          </a:p>
        </p:txBody>
      </p:sp>
      <p:sp>
        <p:nvSpPr>
          <p:cNvPr id="7" name="Text 4"/>
          <p:cNvSpPr/>
          <p:nvPr/>
        </p:nvSpPr>
        <p:spPr>
          <a:xfrm>
            <a:off x="658368" y="27020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2400" b="1" noProof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</a:t>
            </a:r>
            <a:endParaRPr lang="es-ES_tradnl" sz="2400" noProof="0" dirty="0"/>
          </a:p>
        </p:txBody>
      </p:sp>
      <p:sp>
        <p:nvSpPr>
          <p:cNvPr id="8" name="Text 5"/>
          <p:cNvSpPr/>
          <p:nvPr/>
        </p:nvSpPr>
        <p:spPr>
          <a:xfrm>
            <a:off x="685800" y="3467468"/>
            <a:ext cx="16824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Detección y manejo de valores atípicos (</a:t>
            </a:r>
            <a:r>
              <a:rPr lang="es-ES_tradnl" sz="1600" noProof="0" dirty="0" err="1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documentados en el </a:t>
            </a:r>
            <a:r>
              <a:rPr lang="es-ES_tradnl" sz="1600" noProof="0" dirty="0" err="1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ES_tradnl" sz="1600" noProof="0" dirty="0"/>
          </a:p>
        </p:txBody>
      </p:sp>
      <p:sp>
        <p:nvSpPr>
          <p:cNvPr id="9" name="Text 6"/>
          <p:cNvSpPr/>
          <p:nvPr/>
        </p:nvSpPr>
        <p:spPr>
          <a:xfrm>
            <a:off x="2514600" y="2971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2200" b="1" noProof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s-ES_tradnl" sz="2200" noProof="0" dirty="0"/>
          </a:p>
        </p:txBody>
      </p:sp>
      <p:sp>
        <p:nvSpPr>
          <p:cNvPr id="10" name="Shape 7"/>
          <p:cNvSpPr/>
          <p:nvPr/>
        </p:nvSpPr>
        <p:spPr>
          <a:xfrm>
            <a:off x="2724912" y="1554479"/>
            <a:ext cx="2011680" cy="3931919"/>
          </a:xfrm>
          <a:prstGeom prst="roundRect">
            <a:avLst>
              <a:gd name="adj" fmla="val 5455"/>
            </a:avLst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1" name="Shape 8"/>
          <p:cNvSpPr/>
          <p:nvPr/>
        </p:nvSpPr>
        <p:spPr>
          <a:xfrm>
            <a:off x="3410712" y="182880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93922" y="1912010"/>
            <a:ext cx="473659" cy="4736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724912" y="18105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s-ES_tradnl" sz="2000" noProof="0" dirty="0"/>
          </a:p>
        </p:txBody>
      </p:sp>
      <p:sp>
        <p:nvSpPr>
          <p:cNvPr id="14" name="Text 10"/>
          <p:cNvSpPr/>
          <p:nvPr/>
        </p:nvSpPr>
        <p:spPr>
          <a:xfrm>
            <a:off x="2834640" y="27020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2400" b="1" noProof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Imputación</a:t>
            </a:r>
            <a:endParaRPr lang="es-ES_tradnl" sz="2400" noProof="0" dirty="0"/>
          </a:p>
        </p:txBody>
      </p:sp>
      <p:sp>
        <p:nvSpPr>
          <p:cNvPr id="15" name="Text 11"/>
          <p:cNvSpPr/>
          <p:nvPr/>
        </p:nvSpPr>
        <p:spPr>
          <a:xfrm>
            <a:off x="2889504" y="3467468"/>
            <a:ext cx="16824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de datos faltantes: por categoría, por mediana, por vecindario.</a:t>
            </a:r>
            <a:endParaRPr lang="es-ES_tradnl" sz="1600" noProof="0" dirty="0"/>
          </a:p>
        </p:txBody>
      </p:sp>
      <p:sp>
        <p:nvSpPr>
          <p:cNvPr id="16" name="Text 12"/>
          <p:cNvSpPr/>
          <p:nvPr/>
        </p:nvSpPr>
        <p:spPr>
          <a:xfrm>
            <a:off x="4690872" y="2971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2200" b="1" noProof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s-ES_tradnl" sz="2200" noProof="0" dirty="0"/>
          </a:p>
        </p:txBody>
      </p:sp>
      <p:sp>
        <p:nvSpPr>
          <p:cNvPr id="17" name="Shape 13"/>
          <p:cNvSpPr/>
          <p:nvPr/>
        </p:nvSpPr>
        <p:spPr>
          <a:xfrm>
            <a:off x="4901184" y="1554480"/>
            <a:ext cx="2011680" cy="3931918"/>
          </a:xfrm>
          <a:prstGeom prst="roundRect">
            <a:avLst>
              <a:gd name="adj" fmla="val 5455"/>
            </a:avLst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8" name="Shape 14"/>
          <p:cNvSpPr/>
          <p:nvPr/>
        </p:nvSpPr>
        <p:spPr>
          <a:xfrm>
            <a:off x="5586984" y="182880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0194" y="1912010"/>
            <a:ext cx="473659" cy="47365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901184" y="18105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s-ES_tradnl" sz="2000" noProof="0" dirty="0"/>
          </a:p>
        </p:txBody>
      </p:sp>
      <p:sp>
        <p:nvSpPr>
          <p:cNvPr id="21" name="Text 16"/>
          <p:cNvSpPr/>
          <p:nvPr/>
        </p:nvSpPr>
        <p:spPr>
          <a:xfrm>
            <a:off x="5010912" y="27020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2400" b="1" noProof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variables</a:t>
            </a:r>
            <a:endParaRPr lang="es-ES_tradnl" sz="2400" noProof="0" dirty="0"/>
          </a:p>
        </p:txBody>
      </p:sp>
      <p:sp>
        <p:nvSpPr>
          <p:cNvPr id="22" name="Text 17"/>
          <p:cNvSpPr/>
          <p:nvPr/>
        </p:nvSpPr>
        <p:spPr>
          <a:xfrm>
            <a:off x="5065776" y="3467468"/>
            <a:ext cx="16824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variables nuevas: áreas totales, antigüedad, interacciones calidad x tamaño.</a:t>
            </a:r>
            <a:endParaRPr lang="es-ES_tradnl" sz="1600" noProof="0" dirty="0"/>
          </a:p>
        </p:txBody>
      </p:sp>
      <p:sp>
        <p:nvSpPr>
          <p:cNvPr id="23" name="Text 18"/>
          <p:cNvSpPr/>
          <p:nvPr/>
        </p:nvSpPr>
        <p:spPr>
          <a:xfrm>
            <a:off x="6867144" y="2971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2200" b="1" noProof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s-ES_tradnl" sz="2200" noProof="0" dirty="0"/>
          </a:p>
        </p:txBody>
      </p:sp>
      <p:sp>
        <p:nvSpPr>
          <p:cNvPr id="24" name="Shape 19"/>
          <p:cNvSpPr/>
          <p:nvPr/>
        </p:nvSpPr>
        <p:spPr>
          <a:xfrm>
            <a:off x="7077456" y="1554479"/>
            <a:ext cx="2011680" cy="3931917"/>
          </a:xfrm>
          <a:prstGeom prst="roundRect">
            <a:avLst>
              <a:gd name="adj" fmla="val 5455"/>
            </a:avLst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25" name="Shape 20"/>
          <p:cNvSpPr/>
          <p:nvPr/>
        </p:nvSpPr>
        <p:spPr>
          <a:xfrm>
            <a:off x="7763256" y="182880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6466" y="1912010"/>
            <a:ext cx="473659" cy="473659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77456" y="18105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s-ES_tradnl" sz="2000" noProof="0" dirty="0"/>
          </a:p>
        </p:txBody>
      </p:sp>
      <p:sp>
        <p:nvSpPr>
          <p:cNvPr id="28" name="Text 22"/>
          <p:cNvSpPr/>
          <p:nvPr/>
        </p:nvSpPr>
        <p:spPr>
          <a:xfrm>
            <a:off x="7187184" y="27020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2400" b="1" noProof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Codificación</a:t>
            </a:r>
            <a:endParaRPr lang="es-ES_tradnl" sz="2400" noProof="0" dirty="0"/>
          </a:p>
        </p:txBody>
      </p:sp>
      <p:sp>
        <p:nvSpPr>
          <p:cNvPr id="29" name="Text 23"/>
          <p:cNvSpPr/>
          <p:nvPr/>
        </p:nvSpPr>
        <p:spPr>
          <a:xfrm>
            <a:off x="7242048" y="3467468"/>
            <a:ext cx="16824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variables categóricas en numéricas (</a:t>
            </a:r>
            <a:r>
              <a:rPr lang="es-ES_tradnl" sz="1600" noProof="0" dirty="0" err="1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frequency-encoding</a:t>
            </a: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</a:t>
            </a:r>
            <a:r>
              <a:rPr lang="es-ES_tradnl" sz="1600" noProof="0" dirty="0" err="1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1600" noProof="0" dirty="0" err="1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ES_tradnl" sz="1600" noProof="0" dirty="0"/>
          </a:p>
        </p:txBody>
      </p:sp>
      <p:sp>
        <p:nvSpPr>
          <p:cNvPr id="30" name="Text 24"/>
          <p:cNvSpPr/>
          <p:nvPr/>
        </p:nvSpPr>
        <p:spPr>
          <a:xfrm>
            <a:off x="9043416" y="297180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2200" b="1" noProof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s-ES_tradnl" sz="2200" noProof="0" dirty="0"/>
          </a:p>
        </p:txBody>
      </p:sp>
      <p:sp>
        <p:nvSpPr>
          <p:cNvPr id="31" name="Shape 25"/>
          <p:cNvSpPr/>
          <p:nvPr/>
        </p:nvSpPr>
        <p:spPr>
          <a:xfrm>
            <a:off x="9253728" y="1554480"/>
            <a:ext cx="2011680" cy="3931916"/>
          </a:xfrm>
          <a:prstGeom prst="roundRect">
            <a:avLst>
              <a:gd name="adj" fmla="val 5455"/>
            </a:avLst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32" name="Shape 26"/>
          <p:cNvSpPr/>
          <p:nvPr/>
        </p:nvSpPr>
        <p:spPr>
          <a:xfrm>
            <a:off x="9939528" y="182880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2738" y="1912010"/>
            <a:ext cx="473659" cy="473659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253728" y="181051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s-ES_tradnl" sz="2000" noProof="0" dirty="0"/>
          </a:p>
        </p:txBody>
      </p:sp>
      <p:sp>
        <p:nvSpPr>
          <p:cNvPr id="35" name="Text 28"/>
          <p:cNvSpPr/>
          <p:nvPr/>
        </p:nvSpPr>
        <p:spPr>
          <a:xfrm>
            <a:off x="9363456" y="27020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2400" b="1" noProof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Modelado y validación</a:t>
            </a:r>
            <a:endParaRPr lang="es-ES_tradnl" sz="2400" noProof="0" dirty="0"/>
          </a:p>
        </p:txBody>
      </p:sp>
      <p:sp>
        <p:nvSpPr>
          <p:cNvPr id="36" name="Text 29"/>
          <p:cNvSpPr/>
          <p:nvPr/>
        </p:nvSpPr>
        <p:spPr>
          <a:xfrm>
            <a:off x="9418320" y="3467468"/>
            <a:ext cx="168249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Entrenamiento de múltiples modelos con validación cruzada robusta y combinación (ensamble).</a:t>
            </a:r>
            <a:endParaRPr lang="es-ES_tradnl" sz="16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4000" b="1" noProof="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evaluados</a:t>
            </a:r>
            <a:endParaRPr lang="es-ES_tradnl" sz="40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_tradnl" sz="28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2025396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sz="2800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941" y="2099097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7647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b="1" noProof="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/ Lasso / </a:t>
            </a:r>
            <a:r>
              <a:rPr lang="es-ES_tradnl" sz="2000" b="1" noProof="0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ElasticNet</a:t>
            </a:r>
            <a:endParaRPr lang="es-ES_tradnl" sz="2000" noProof="0" dirty="0"/>
          </a:p>
        </p:txBody>
      </p:sp>
      <p:sp>
        <p:nvSpPr>
          <p:cNvPr id="8" name="Text 5"/>
          <p:cNvSpPr/>
          <p:nvPr/>
        </p:nvSpPr>
        <p:spPr>
          <a:xfrm>
            <a:off x="1508760" y="228600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lineal regularizada</a:t>
            </a:r>
            <a:endParaRPr lang="es-ES_tradnl" noProof="0" dirty="0"/>
          </a:p>
        </p:txBody>
      </p:sp>
      <p:sp>
        <p:nvSpPr>
          <p:cNvPr id="9" name="Shape 6"/>
          <p:cNvSpPr/>
          <p:nvPr/>
        </p:nvSpPr>
        <p:spPr>
          <a:xfrm>
            <a:off x="6263640" y="160020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_tradnl" sz="2800" noProof="0" dirty="0"/>
          </a:p>
        </p:txBody>
      </p:sp>
      <p:sp>
        <p:nvSpPr>
          <p:cNvPr id="10" name="Shape 7"/>
          <p:cNvSpPr/>
          <p:nvPr/>
        </p:nvSpPr>
        <p:spPr>
          <a:xfrm>
            <a:off x="6492240" y="2025396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sz="2800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941" y="2099097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176479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b="1" noProof="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s-ES_tradnl" sz="2000" noProof="0" dirty="0"/>
          </a:p>
        </p:txBody>
      </p:sp>
      <p:sp>
        <p:nvSpPr>
          <p:cNvPr id="13" name="Text 9"/>
          <p:cNvSpPr/>
          <p:nvPr/>
        </p:nvSpPr>
        <p:spPr>
          <a:xfrm>
            <a:off x="7223760" y="228600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 de arboles de decisión</a:t>
            </a:r>
            <a:endParaRPr lang="es-ES_tradnl" noProof="0" dirty="0"/>
          </a:p>
        </p:txBody>
      </p:sp>
      <p:sp>
        <p:nvSpPr>
          <p:cNvPr id="14" name="Shape 10"/>
          <p:cNvSpPr/>
          <p:nvPr/>
        </p:nvSpPr>
        <p:spPr>
          <a:xfrm>
            <a:off x="548640" y="3218688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_tradnl" sz="2800" noProof="0" dirty="0"/>
          </a:p>
        </p:txBody>
      </p:sp>
      <p:sp>
        <p:nvSpPr>
          <p:cNvPr id="15" name="Shape 11"/>
          <p:cNvSpPr/>
          <p:nvPr/>
        </p:nvSpPr>
        <p:spPr>
          <a:xfrm>
            <a:off x="777240" y="3643884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sz="2800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941" y="3717585"/>
            <a:ext cx="419527" cy="41952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3832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b="1" noProof="0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</a:t>
            </a:r>
            <a:r>
              <a:rPr lang="es-ES_tradnl" sz="2000" b="1" noProof="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2000" b="1" noProof="0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endParaRPr lang="es-ES_tradnl" sz="2000" noProof="0" dirty="0"/>
          </a:p>
        </p:txBody>
      </p:sp>
      <p:sp>
        <p:nvSpPr>
          <p:cNvPr id="18" name="Text 13"/>
          <p:cNvSpPr/>
          <p:nvPr/>
        </p:nvSpPr>
        <p:spPr>
          <a:xfrm>
            <a:off x="1508760" y="390448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</a:t>
            </a:r>
            <a:r>
              <a:rPr lang="es-ES_tradnl" noProof="0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rboles</a:t>
            </a:r>
            <a:r>
              <a:rPr lang="es-ES_tradnl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que corrigen errores de forma iterativa</a:t>
            </a:r>
            <a:endParaRPr lang="es-ES_tradnl" noProof="0" dirty="0"/>
          </a:p>
        </p:txBody>
      </p:sp>
      <p:sp>
        <p:nvSpPr>
          <p:cNvPr id="19" name="Shape 14"/>
          <p:cNvSpPr/>
          <p:nvPr/>
        </p:nvSpPr>
        <p:spPr>
          <a:xfrm>
            <a:off x="6263640" y="3218688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_tradnl" sz="2800" noProof="0" dirty="0"/>
          </a:p>
        </p:txBody>
      </p:sp>
      <p:sp>
        <p:nvSpPr>
          <p:cNvPr id="20" name="Shape 15"/>
          <p:cNvSpPr/>
          <p:nvPr/>
        </p:nvSpPr>
        <p:spPr>
          <a:xfrm>
            <a:off x="6492240" y="3643884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sz="2800" noProof="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5941" y="3717585"/>
            <a:ext cx="419527" cy="41952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38328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b="1" noProof="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SVR (</a:t>
            </a:r>
            <a:r>
              <a:rPr lang="es-ES_tradnl" sz="2000" b="1" noProof="0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r>
              <a:rPr lang="es-ES_tradnl" sz="2000" b="1" noProof="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Vector </a:t>
            </a:r>
            <a:r>
              <a:rPr lang="es-ES_tradnl" sz="2000" b="1" noProof="0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</a:t>
            </a:r>
            <a:r>
              <a:rPr lang="es-ES_tradnl" sz="2000" b="1" noProof="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ES_tradnl" sz="2000" noProof="0" dirty="0"/>
          </a:p>
        </p:txBody>
      </p:sp>
      <p:sp>
        <p:nvSpPr>
          <p:cNvPr id="23" name="Text 17"/>
          <p:cNvSpPr/>
          <p:nvPr/>
        </p:nvSpPr>
        <p:spPr>
          <a:xfrm>
            <a:off x="7223760" y="390448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clásico basado en márgenes</a:t>
            </a:r>
            <a:endParaRPr lang="es-ES_tradnl" noProof="0" dirty="0"/>
          </a:p>
        </p:txBody>
      </p:sp>
      <p:sp>
        <p:nvSpPr>
          <p:cNvPr id="24" name="Shape 18"/>
          <p:cNvSpPr/>
          <p:nvPr/>
        </p:nvSpPr>
        <p:spPr>
          <a:xfrm>
            <a:off x="548640" y="4837176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_tradnl" sz="2800" noProof="0" dirty="0"/>
          </a:p>
        </p:txBody>
      </p:sp>
      <p:sp>
        <p:nvSpPr>
          <p:cNvPr id="25" name="Shape 19"/>
          <p:cNvSpPr/>
          <p:nvPr/>
        </p:nvSpPr>
        <p:spPr>
          <a:xfrm>
            <a:off x="777240" y="5262372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sz="2800" noProof="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941" y="5336073"/>
            <a:ext cx="419527" cy="4195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08760" y="500176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b="1" noProof="0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s-ES_tradnl" sz="2000" noProof="0" dirty="0"/>
          </a:p>
        </p:txBody>
      </p:sp>
      <p:sp>
        <p:nvSpPr>
          <p:cNvPr id="28" name="Text 21"/>
          <p:cNvSpPr/>
          <p:nvPr/>
        </p:nvSpPr>
        <p:spPr>
          <a:xfrm>
            <a:off x="1508760" y="552297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noProof="0" dirty="0" err="1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</a:t>
            </a:r>
            <a:r>
              <a:rPr lang="es-ES_tradnl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optimizado, muy usado en competencias</a:t>
            </a:r>
            <a:endParaRPr lang="es-ES_tradnl" noProof="0" dirty="0"/>
          </a:p>
        </p:txBody>
      </p:sp>
      <p:sp>
        <p:nvSpPr>
          <p:cNvPr id="29" name="Shape 22"/>
          <p:cNvSpPr/>
          <p:nvPr/>
        </p:nvSpPr>
        <p:spPr>
          <a:xfrm>
            <a:off x="6263640" y="4837176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s-ES_tradnl" sz="2800" noProof="0" dirty="0"/>
          </a:p>
        </p:txBody>
      </p:sp>
      <p:sp>
        <p:nvSpPr>
          <p:cNvPr id="30" name="Shape 23"/>
          <p:cNvSpPr/>
          <p:nvPr/>
        </p:nvSpPr>
        <p:spPr>
          <a:xfrm>
            <a:off x="6492240" y="5262372"/>
            <a:ext cx="566928" cy="566928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sz="2800" noProof="0" dirty="0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65941" y="5336073"/>
            <a:ext cx="419527" cy="4195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223760" y="5001768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000" b="1" noProof="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Ensamble final (</a:t>
            </a:r>
            <a:r>
              <a:rPr lang="es-ES_tradnl" sz="2000" b="1" noProof="0" dirty="0" err="1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</a:t>
            </a:r>
            <a:r>
              <a:rPr lang="es-ES_tradnl" sz="2000" b="1" noProof="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ES_tradnl" sz="2000" noProof="0" dirty="0"/>
          </a:p>
        </p:txBody>
      </p:sp>
      <p:sp>
        <p:nvSpPr>
          <p:cNvPr id="33" name="Text 25"/>
          <p:cNvSpPr/>
          <p:nvPr/>
        </p:nvSpPr>
        <p:spPr>
          <a:xfrm>
            <a:off x="7223760" y="552297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noProof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ponderada de los mejores modelos</a:t>
            </a:r>
            <a:endParaRPr lang="es-ES_tradnl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2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3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Validación: ¿Cómo supimos que funcionaba?</a:t>
            </a:r>
            <a:endParaRPr lang="es-ES_tradnl" sz="3600" noProof="0" dirty="0"/>
          </a:p>
        </p:txBody>
      </p:sp>
      <p:sp>
        <p:nvSpPr>
          <p:cNvPr id="3" name="Shape 1"/>
          <p:cNvSpPr/>
          <p:nvPr/>
        </p:nvSpPr>
        <p:spPr>
          <a:xfrm>
            <a:off x="548640" y="15087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Shape 2"/>
          <p:cNvSpPr/>
          <p:nvPr/>
        </p:nvSpPr>
        <p:spPr>
          <a:xfrm>
            <a:off x="868680" y="1801368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665" y="1908353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67335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cruzada (K-Fold)</a:t>
            </a:r>
            <a:endParaRPr lang="es-ES_tradnl" sz="2400" noProof="0" dirty="0"/>
          </a:p>
        </p:txBody>
      </p:sp>
      <p:sp>
        <p:nvSpPr>
          <p:cNvPr id="7" name="Text 4"/>
          <p:cNvSpPr/>
          <p:nvPr/>
        </p:nvSpPr>
        <p:spPr>
          <a:xfrm>
            <a:off x="1920240" y="2130552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divide el </a:t>
            </a:r>
            <a:r>
              <a:rPr lang="es-ES_tradnl" noProof="0" dirty="0" err="1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r>
              <a:rPr lang="es-ES_tradnl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partes; se entrena con unas y se prueba con las otras, rotando. Da una medida honesta del error antes de usar el test real.</a:t>
            </a:r>
            <a:endParaRPr lang="es-ES_tradnl" noProof="0" dirty="0"/>
          </a:p>
        </p:txBody>
      </p:sp>
      <p:sp>
        <p:nvSpPr>
          <p:cNvPr id="8" name="Shape 5"/>
          <p:cNvSpPr/>
          <p:nvPr/>
        </p:nvSpPr>
        <p:spPr>
          <a:xfrm>
            <a:off x="548640" y="31089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Shape 6"/>
          <p:cNvSpPr/>
          <p:nvPr/>
        </p:nvSpPr>
        <p:spPr>
          <a:xfrm>
            <a:off x="868680" y="3401568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665" y="3508553"/>
            <a:ext cx="608990" cy="6089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920240" y="327355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cruzada repetida</a:t>
            </a:r>
            <a:endParaRPr lang="es-ES_tradnl" sz="2400" noProof="0" dirty="0"/>
          </a:p>
        </p:txBody>
      </p:sp>
      <p:sp>
        <p:nvSpPr>
          <p:cNvPr id="12" name="Text 8"/>
          <p:cNvSpPr/>
          <p:nvPr/>
        </p:nvSpPr>
        <p:spPr>
          <a:xfrm>
            <a:off x="1920240" y="3730752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Repetimos el K-Fold varias veces con distintas particiones para reducir el ruido de una sola corrida — clave en un </a:t>
            </a:r>
            <a:r>
              <a:rPr lang="es-ES_tradnl" noProof="0" dirty="0" err="1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r>
              <a:rPr lang="es-ES_tradnl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chico.</a:t>
            </a:r>
            <a:endParaRPr lang="es-ES_tradnl" noProof="0" dirty="0"/>
          </a:p>
        </p:txBody>
      </p:sp>
      <p:sp>
        <p:nvSpPr>
          <p:cNvPr id="13" name="Shape 9"/>
          <p:cNvSpPr/>
          <p:nvPr/>
        </p:nvSpPr>
        <p:spPr>
          <a:xfrm>
            <a:off x="548640" y="4709160"/>
            <a:ext cx="11064240" cy="1417320"/>
          </a:xfrm>
          <a:prstGeom prst="roundRect">
            <a:avLst>
              <a:gd name="adj" fmla="val 7742"/>
            </a:avLst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Shape 10"/>
          <p:cNvSpPr/>
          <p:nvPr/>
        </p:nvSpPr>
        <p:spPr>
          <a:xfrm>
            <a:off x="868680" y="5001768"/>
            <a:ext cx="822960" cy="82296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5665" y="5108753"/>
            <a:ext cx="608990" cy="6089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920240" y="487375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2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Selección de pesos del ensamble</a:t>
            </a:r>
            <a:endParaRPr lang="es-ES_tradnl" sz="2400" noProof="0" dirty="0"/>
          </a:p>
        </p:txBody>
      </p:sp>
      <p:sp>
        <p:nvSpPr>
          <p:cNvPr id="17" name="Text 12"/>
          <p:cNvSpPr/>
          <p:nvPr/>
        </p:nvSpPr>
        <p:spPr>
          <a:xfrm>
            <a:off x="1920240" y="5330952"/>
            <a:ext cx="9418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peso de cada modelo en la combinación final se elige minimizando el error de validación cruzada, no a mano.</a:t>
            </a:r>
            <a:endParaRPr lang="es-ES_tradnl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3600" b="1" noProof="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Resultados: evolución del score</a:t>
            </a:r>
            <a:endParaRPr lang="es-ES_tradnl" sz="3600" noProof="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" y="1417320"/>
          <a:ext cx="758952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458200" y="1417320"/>
            <a:ext cx="3154680" cy="4709160"/>
          </a:xfrm>
          <a:prstGeom prst="roundRect">
            <a:avLst>
              <a:gd name="adj" fmla="val 3478"/>
            </a:avLst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6" name="Shape 3"/>
          <p:cNvSpPr/>
          <p:nvPr/>
        </p:nvSpPr>
        <p:spPr>
          <a:xfrm>
            <a:off x="9715500" y="164592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8710" y="1729130"/>
            <a:ext cx="473659" cy="4736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58200" y="24231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3400" b="1" noProof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-13.4%</a:t>
            </a:r>
            <a:endParaRPr lang="es-ES_tradnl" sz="3400" noProof="0" dirty="0"/>
          </a:p>
        </p:txBody>
      </p:sp>
      <p:sp>
        <p:nvSpPr>
          <p:cNvPr id="9" name="Text 5"/>
          <p:cNvSpPr/>
          <p:nvPr/>
        </p:nvSpPr>
        <p:spPr>
          <a:xfrm>
            <a:off x="8641080" y="299466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_tradnl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mejora total</a:t>
            </a:r>
            <a:endParaRPr lang="es-ES_tradnl" sz="1400" noProof="0" dirty="0"/>
          </a:p>
          <a:p>
            <a:pPr marL="0" indent="0" algn="ctr">
              <a:buNone/>
            </a:pPr>
            <a:r>
              <a:rPr lang="es-ES_tradnl" sz="140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error (RMSE)</a:t>
            </a:r>
            <a:endParaRPr lang="es-ES_tradnl" sz="1400" noProof="0" dirty="0"/>
          </a:p>
        </p:txBody>
      </p:sp>
      <p:sp>
        <p:nvSpPr>
          <p:cNvPr id="10" name="Text 6"/>
          <p:cNvSpPr/>
          <p:nvPr/>
        </p:nvSpPr>
        <p:spPr>
          <a:xfrm>
            <a:off x="8686800" y="3543300"/>
            <a:ext cx="2743200" cy="2446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_tradnl" sz="14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mejora fue validada con evidencia (</a:t>
            </a:r>
            <a:r>
              <a:rPr lang="es-ES_tradnl" sz="1400" noProof="0" dirty="0" err="1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</a:t>
            </a:r>
            <a:r>
              <a:rPr lang="es-ES_tradnl" sz="14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antes de subirse.</a:t>
            </a:r>
            <a:endParaRPr lang="es-ES_tradnl" sz="140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_tradnl" sz="14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saltos mas grandes vinieron de mejorar la representación de los datos, no de un solo modelo.</a:t>
            </a:r>
            <a:endParaRPr lang="es-ES_tradnl" sz="1400" noProof="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ES_tradnl" sz="14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priorizó la honestidad del proceso sobre perseguir un numero especifico.</a:t>
            </a:r>
            <a:endParaRPr lang="es-ES_tradnl" sz="14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2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_tradnl" sz="3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s-ES_tradnl" sz="3600" noProof="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94360" cy="59436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27" y="1768907"/>
            <a:ext cx="439826" cy="4398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67335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pocos datos, el CV es ruidoso</a:t>
            </a:r>
            <a:endParaRPr lang="es-ES_tradnl" noProof="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</a:t>
            </a:r>
            <a:r>
              <a:rPr lang="es-ES_tradnl" sz="1600" noProof="0" dirty="0" err="1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validación cruzada puede variar miles de dólares de error solo por azar. Hay que validar con múltiples particiones antes de confiar en una mejora.</a:t>
            </a:r>
            <a:endParaRPr lang="es-ES_tradnl" sz="1600" noProof="0" dirty="0"/>
          </a:p>
        </p:txBody>
      </p:sp>
      <p:sp>
        <p:nvSpPr>
          <p:cNvPr id="8" name="Shape 5"/>
          <p:cNvSpPr/>
          <p:nvPr/>
        </p:nvSpPr>
        <p:spPr>
          <a:xfrm>
            <a:off x="6263640" y="141732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9" name="Shape 6"/>
          <p:cNvSpPr/>
          <p:nvPr/>
        </p:nvSpPr>
        <p:spPr>
          <a:xfrm>
            <a:off x="6537960" y="1691640"/>
            <a:ext cx="594360" cy="59436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227" y="1768907"/>
            <a:ext cx="439826" cy="4398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67335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representación de los datos importa tanto como el modelo</a:t>
            </a:r>
            <a:endParaRPr lang="es-ES_tradnl" noProof="0" dirty="0"/>
          </a:p>
        </p:txBody>
      </p:sp>
      <p:sp>
        <p:nvSpPr>
          <p:cNvPr id="12" name="Text 8"/>
          <p:cNvSpPr/>
          <p:nvPr/>
        </p:nvSpPr>
        <p:spPr>
          <a:xfrm>
            <a:off x="6537960" y="237744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Cambiar de </a:t>
            </a:r>
            <a:r>
              <a:rPr lang="es-ES_tradnl" sz="1600" noProof="0" dirty="0" err="1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frequency-encoding</a:t>
            </a: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s-ES_tradnl" sz="1600" noProof="0" dirty="0" err="1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</a:t>
            </a: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_tradnl" sz="1600" noProof="0" dirty="0" err="1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</a:t>
            </a: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tuvo mas impacto que cambiar de modelo.</a:t>
            </a:r>
            <a:endParaRPr lang="es-ES_tradnl" sz="1600" noProof="0" dirty="0"/>
          </a:p>
        </p:txBody>
      </p:sp>
      <p:sp>
        <p:nvSpPr>
          <p:cNvPr id="13" name="Shape 9"/>
          <p:cNvSpPr/>
          <p:nvPr/>
        </p:nvSpPr>
        <p:spPr>
          <a:xfrm>
            <a:off x="3421380" y="4114800"/>
            <a:ext cx="5349240" cy="2331720"/>
          </a:xfrm>
          <a:prstGeom prst="roundRect">
            <a:avLst>
              <a:gd name="adj" fmla="val 4706"/>
            </a:avLst>
          </a:prstGeom>
          <a:solidFill>
            <a:srgbClr val="3A2F2A"/>
          </a:solidFill>
          <a:ln/>
        </p:spPr>
        <p:txBody>
          <a:bodyPr/>
          <a:lstStyle/>
          <a:p>
            <a:endParaRPr lang="es-ES_tradnl" noProof="0" dirty="0"/>
          </a:p>
        </p:txBody>
      </p:sp>
      <p:sp>
        <p:nvSpPr>
          <p:cNvPr id="14" name="Shape 10"/>
          <p:cNvSpPr/>
          <p:nvPr/>
        </p:nvSpPr>
        <p:spPr>
          <a:xfrm>
            <a:off x="3695700" y="4389120"/>
            <a:ext cx="594360" cy="594360"/>
          </a:xfrm>
          <a:prstGeom prst="ellipse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s-ES_tradnl" noProof="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967" y="4466387"/>
            <a:ext cx="439826" cy="43982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72940" y="4370832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Combinar enfoques distintos,  ayuda</a:t>
            </a:r>
            <a:endParaRPr lang="es-ES_tradnl" noProof="0" dirty="0"/>
          </a:p>
        </p:txBody>
      </p:sp>
      <p:sp>
        <p:nvSpPr>
          <p:cNvPr id="17" name="Text 12"/>
          <p:cNvSpPr/>
          <p:nvPr/>
        </p:nvSpPr>
        <p:spPr>
          <a:xfrm>
            <a:off x="3695700" y="5074920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_tradnl" sz="1600" noProof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pipelines que se equivocan de forma distinta, al promediarse, reducen el error total.</a:t>
            </a:r>
            <a:endParaRPr lang="es-ES_tradnl" sz="16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587</Words>
  <Application>Microsoft Macintosh PowerPoint</Application>
  <PresentationFormat>Widescreen</PresentationFormat>
  <Paragraphs>91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Prediccion de Precios de Vivienda - Ames Housing</dc:title>
  <dc:subject>PptxGenJS Presentation</dc:subject>
  <dc:creator>Proyecto Final - Econometria en R (implementado en Python)</dc:creator>
  <cp:lastModifiedBy>Gabriel Mejia Ruiz</cp:lastModifiedBy>
  <cp:revision>3</cp:revision>
  <dcterms:created xsi:type="dcterms:W3CDTF">2026-07-04T19:22:59Z</dcterms:created>
  <dcterms:modified xsi:type="dcterms:W3CDTF">2026-07-04T21:09:59Z</dcterms:modified>
</cp:coreProperties>
</file>